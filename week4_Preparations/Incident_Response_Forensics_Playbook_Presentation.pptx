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9FAFB"/>
                </a:solidFill>
                <a:latin typeface="Arial"/>
              </a:defRPr>
            </a:pPr>
            <a:r>
              <a:t>Project 5: Incident Response &amp;</a:t>
            </a:r>
            <a:br/>
            <a:r>
              <a:t>Digital Forensics Playbook</a:t>
            </a:r>
          </a:p>
          <a:p>
            <a:pPr>
              <a:spcBef>
                <a:spcPts val="2000"/>
              </a:spcBef>
              <a:defRPr sz="1800">
                <a:solidFill>
                  <a:srgbClr val="3B82F6"/>
                </a:solidFill>
                <a:latin typeface="Arial"/>
              </a:defRPr>
            </a:pPr>
            <a:r>
              <a:t>Weeks 2 &amp; 3: Phishing Simulation, Evidence Collection &amp; AI-Driven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9CA3AF"/>
                </a:solidFill>
                <a:latin typeface="Arial"/>
              </a:defRPr>
            </a:pPr>
            <a:r>
              <a:t>Lead Investigator: </a:t>
            </a:r>
            <a:r>
              <a:rPr b="0">
                <a:solidFill>
                  <a:srgbClr val="F9FAFB"/>
                </a:solidFill>
              </a:rPr>
              <a:t>Menna Said Ahmed Abdelkader Sabek</a:t>
            </a:r>
          </a:p>
          <a:p>
            <a:pPr>
              <a:defRPr b="1" sz="1200">
                <a:solidFill>
                  <a:srgbClr val="9CA3AF"/>
                </a:solidFill>
                <a:latin typeface="Arial"/>
              </a:defRPr>
            </a:pPr>
            <a:r>
              <a:t>Target System: </a:t>
            </a:r>
            <a:r>
              <a:rPr b="0">
                <a:solidFill>
                  <a:srgbClr val="F9FAFB"/>
                </a:solidFill>
              </a:rPr>
              <a:t>Windows 10 Workstation (Virtual Laboratory)</a:t>
            </a:r>
          </a:p>
          <a:p>
            <a:pPr>
              <a:defRPr b="1" sz="1200">
                <a:solidFill>
                  <a:srgbClr val="9CA3AF"/>
                </a:solidFill>
                <a:latin typeface="Arial"/>
              </a:defRPr>
            </a:pPr>
            <a:r>
              <a:t>Status: </a:t>
            </a:r>
            <a:r>
              <a:rPr b="0">
                <a:solidFill>
                  <a:srgbClr val="F9FAFB"/>
                </a:solidFill>
              </a:rPr>
              <a:t>Contained, Eradicated &amp; Remediated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WEEK 2: SIMULATION &amp; DETECTION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Conducted a controlled phishing email campaign utilizing GoPhish hosted on a Kali Linux VM.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Targeted a victim Windows 10 workstation that interacted with the deceptive tracking link.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Captured and verified dummy credentials successfully across host, network, and application layers.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Correlated cross-platform logs (Sysmon, Wireshark, Splunk SIEM) to confirm full end-to-end telemetry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WEEK 3: CONTAINMENT &amp; DEFENSE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Enforced immediate host isolation via PowerShell firewall blocking rules and network link disabling.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Audited system persistence vectors with Sysinternals Autoruns to verify no active adversarial backdoors.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Eradicated footprints completely via exhaustive local browser cache purges and MSERT diagnostic scans.</a:t>
            </a:r>
          </a:p>
          <a:p>
            <a:pPr>
              <a:spcBef>
                <a:spcPts val="1200"/>
              </a:spcBef>
              <a:defRPr sz="1300">
                <a:solidFill>
                  <a:srgbClr val="F9FAFB"/>
                </a:solidFill>
              </a:defRPr>
            </a:pPr>
            <a:r>
              <a:t>• Deployed a predictive Deep Learning model (Sequential ANN via TensorFlow) to filter phishing URLs with 99.98%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Lab Environment &amp; Infrastructure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242255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B82F6"/>
                          </a:solidFill>
                        </a:defRPr>
                      </a:pPr>
                      <a:r>
                        <a:t>SYSTEM ROLE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B82F6"/>
                          </a:solidFill>
                        </a:defRPr>
                      </a:pPr>
                      <a:r>
                        <a:t>IP ADDRESS / PORT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3B82F6"/>
                          </a:solidFill>
                        </a:defRPr>
                      </a:pPr>
                      <a:r>
                        <a:t>EVIDENCE VALIDATION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Victim Endpoint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192.168.92.133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Verified via ipconfig screenshot, Sysmon Event ID 3, &amp; Wireshark src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Attacker Simulation Host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192.168.92.128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Kali Linux host running GoPhish landing service on port 80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GoPhish Admin Console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127.0.0.1:3333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Isolated administration loopback UI on the attacker instance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Centralized SIEM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Localhost (Splunk Indexed)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defRPr sz="1200">
                          <a:solidFill>
                            <a:srgbClr val="F9FAFB"/>
                          </a:solidFill>
                        </a:defRPr>
                      </a:pPr>
                      <a:r>
                        <a:t>Index=main configured to ingest raw telemetry from endpoint agent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Week 2: Multi-Layer Evidence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14600" cy="4114800"/>
          </a:xfrm>
          <a:prstGeom prst="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APPLICATION LOGS</a:t>
            </a:r>
          </a:p>
          <a:p>
            <a:pPr>
              <a:spcBef>
                <a:spcPts val="600"/>
              </a:spcBef>
              <a:defRPr i="1" sz="1100">
                <a:solidFill>
                  <a:srgbClr val="9CA3AF"/>
                </a:solidFill>
              </a:defRPr>
            </a:pPr>
            <a:r>
              <a:t>Source: GoPhish Dashboard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Confirmed full campaign execution telemetry: Email Sent = 1, Opened = 1, Clicked = 1, and Submitted Data =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828800"/>
            <a:ext cx="2514600" cy="4114800"/>
          </a:xfrm>
          <a:prstGeom prst="rect">
            <a:avLst/>
          </a:prstGeom>
          <a:solidFill>
            <a:srgbClr val="1F293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EF4444"/>
                </a:solidFill>
              </a:defRPr>
            </a:pPr>
            <a:r>
              <a:t>NETWORK TRAFFIC</a:t>
            </a:r>
          </a:p>
          <a:p>
            <a:pPr>
              <a:spcBef>
                <a:spcPts val="600"/>
              </a:spcBef>
              <a:defRPr i="1" sz="1100">
                <a:solidFill>
                  <a:srgbClr val="9CA3AF"/>
                </a:solidFill>
              </a:defRPr>
            </a:pPr>
            <a:r>
              <a:t>Source: Wireshark Packet Capture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Captured raw unencrypted HTTP GET and POST requests. Cleartext form data exposed submitted email/password strings.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2514600" cy="4114800"/>
          </a:xfrm>
          <a:prstGeom prst="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ENDPOINT TELEMETRY</a:t>
            </a:r>
          </a:p>
          <a:p>
            <a:pPr>
              <a:spcBef>
                <a:spcPts val="600"/>
              </a:spcBef>
              <a:defRPr i="1" sz="1100">
                <a:solidFill>
                  <a:srgbClr val="9CA3AF"/>
                </a:solidFill>
              </a:defRPr>
            </a:pPr>
            <a:r>
              <a:t>Source: Sysmon Event ID 3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Logged programmatic process evidence matching 'msedge.exe' initiating outbound network connections to 192.168.92.128:80.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1828800"/>
            <a:ext cx="2514600" cy="4114800"/>
          </a:xfrm>
          <a:prstGeom prst="rect">
            <a:avLst/>
          </a:prstGeom>
          <a:solidFill>
            <a:srgbClr val="1F2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SIEM CORRELATION</a:t>
            </a:r>
          </a:p>
          <a:p>
            <a:pPr>
              <a:spcBef>
                <a:spcPts val="600"/>
              </a:spcBef>
              <a:defRPr i="1" sz="1100">
                <a:solidFill>
                  <a:srgbClr val="9CA3AF"/>
                </a:solidFill>
              </a:defRPr>
            </a:pPr>
            <a:r>
              <a:t>Source: Splunk Search Results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Centralized engine indexed endpoint telemetry under index=main, demonstrating rapid search and SOC correlation capabilities.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Week 3: Host Isolation &amp; Active Containment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DUAL-LAYER CONTAINMENT FRAMEWORK</a:t>
            </a:r>
          </a:p>
          <a:p>
            <a:pPr>
              <a:spcBef>
                <a:spcPts val="1200"/>
              </a:spcBef>
              <a:defRPr b="1" sz="1300">
                <a:solidFill>
                  <a:srgbClr val="F9FAFB"/>
                </a:solidFill>
              </a:defRPr>
            </a:pPr>
            <a:r>
              <a:t>✔ Host-Based Firewall Rule:</a:t>
            </a:r>
            <a:r>
              <a:rPr b="0">
                <a:solidFill>
                  <a:srgbClr val="9CA3AF"/>
                </a:solidFill>
              </a:rPr>
              <a:t> Executed 'New-NetFirewallRule' via administrative PowerShell to block all outbound IP connections to the threat server (192.168.56.101).</a:t>
            </a:r>
          </a:p>
          <a:p>
            <a:pPr>
              <a:spcBef>
                <a:spcPts val="1200"/>
              </a:spcBef>
              <a:defRPr b="1" sz="1300">
                <a:solidFill>
                  <a:srgbClr val="F9FAFB"/>
                </a:solidFill>
              </a:defRPr>
            </a:pPr>
            <a:r>
              <a:t>✔ Complete Network Isolation:</a:t>
            </a:r>
            <a:r>
              <a:rPr b="0">
                <a:solidFill>
                  <a:srgbClr val="9CA3AF"/>
                </a:solidFill>
              </a:rPr>
              <a:t> Utilized Windows Network Connections panel (ncpa.cpl) to perform a hard deactivation of all active local interfaces (Ethernet and Ethernet 2).</a:t>
            </a:r>
          </a:p>
          <a:p>
            <a:pPr>
              <a:spcBef>
                <a:spcPts val="1200"/>
              </a:spcBef>
              <a:defRPr b="1" sz="1300">
                <a:solidFill>
                  <a:srgbClr val="F9FAFB"/>
                </a:solidFill>
              </a:defRPr>
            </a:pPr>
            <a:r>
              <a:t>✔ Operational Benefit:</a:t>
            </a:r>
            <a:r>
              <a:rPr b="0">
                <a:solidFill>
                  <a:srgbClr val="9CA3AF"/>
                </a:solidFill>
              </a:rPr>
              <a:t> Achieved immediate, airtight isolation to permanently block command-and-control beacons or threat propagation while retaining the machine for live forensics.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645920"/>
            <a:ext cx="448056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F9FAFB"/>
                </a:solidFill>
              </a:defRPr>
            </a:pPr>
            <a:r>
              <a:t>PROCESS INTEGRITY AUDIT</a:t>
            </a:r>
          </a:p>
          <a:p>
            <a:pPr>
              <a:spcBef>
                <a:spcPts val="1400"/>
              </a:spcBef>
              <a:defRPr b="1" sz="1300">
                <a:solidFill>
                  <a:srgbClr val="3B82F6"/>
                </a:solidFill>
              </a:defRPr>
            </a:pPr>
            <a:r>
              <a:t>Task Manager Forensic Review: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Isolated an active host resource spike (96% - 100% CPU utilization).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Traced root metrics exclusively to multi-tab sub-processes of Microsoft Edge.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Confirmed absence of malicious binary injection, hidden scripting wrappers, or dormant miners.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Week 3: Eradication &amp; Forensic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FAFB"/>
                </a:solidFill>
              </a:defRPr>
            </a:pPr>
            <a:r>
              <a:t>PERSISTENCE AUDIT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Audited critical hives using Sysinternals Autoruns. Inspected 'SafeBoot\AlternateShell' pointing to cmd.exe. Confirmed valid Microsoft signature with 0 malicious appended parameters.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FAFB"/>
                </a:solidFill>
              </a:defRPr>
            </a:pPr>
            <a:r>
              <a:t>SESSION/DATA PURGE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Executed an exhaustive 'All Time' sanitation sequence inside Microsoft Edge. Purged browsing history, local cache assets, tracking libraries, and session cookies.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84632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FAFB"/>
                </a:solidFill>
              </a:defRPr>
            </a:pPr>
            <a:r>
              <a:t>MALWARE DIAGNOSTICS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</a:defRPr>
            </a:pPr>
            <a:r>
              <a:t>Deployed portable Microsoft Safety Scanner (MSERT) to audit core operating directories (C:\Windows\System32\). Verified final clean signature with 'Files Infected: 0'.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Week 3: Account Hardening &amp; Proactive AI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F9FAFB"/>
                </a:solidFill>
              </a:defRPr>
            </a:pPr>
            <a:r>
              <a:t>ENDPOINT &amp; ACCOUNT HARDENING</a:t>
            </a:r>
          </a:p>
          <a:p>
            <a:pPr>
              <a:spcBef>
                <a:spcPts val="1200"/>
              </a:spcBef>
              <a:defRPr b="1" sz="1300">
                <a:solidFill>
                  <a:srgbClr val="3B82F6"/>
                </a:solidFill>
              </a:defRPr>
            </a:pPr>
            <a:r>
              <a:t>✔ Credential Overwrite</a:t>
            </a:r>
            <a:r>
              <a:rPr b="0">
                <a:solidFill>
                  <a:srgbClr val="F9FAFB"/>
                </a:solidFill>
              </a:rPr>
              <a:t>: Forcefully rotated local credentials using the Command Processor wrapper ('net user Username [Password]').</a:t>
            </a:r>
          </a:p>
          <a:p>
            <a:pPr>
              <a:spcBef>
                <a:spcPts val="1200"/>
              </a:spcBef>
              <a:defRPr b="1" sz="1300">
                <a:solidFill>
                  <a:srgbClr val="3B82F6"/>
                </a:solidFill>
              </a:defRPr>
            </a:pPr>
            <a:r>
              <a:t>✔ MFA Enforcement</a:t>
            </a:r>
            <a:r>
              <a:rPr b="0">
                <a:solidFill>
                  <a:srgbClr val="F9FAFB"/>
                </a:solidFill>
              </a:rPr>
              <a:t>: Programmatically deployed Multi-Factor Authentication rules through Google Account Security parameters.</a:t>
            </a:r>
          </a:p>
          <a:p>
            <a:pPr>
              <a:spcBef>
                <a:spcPts val="1200"/>
              </a:spcBef>
              <a:defRPr b="1" sz="1300">
                <a:solidFill>
                  <a:srgbClr val="3B82F6"/>
                </a:solidFill>
              </a:defRPr>
            </a:pPr>
            <a:r>
              <a:t>✔ Replay Mitigation</a:t>
            </a:r>
            <a:r>
              <a:rPr b="0">
                <a:solidFill>
                  <a:srgbClr val="F9FAFB"/>
                </a:solidFill>
              </a:rPr>
              <a:t>: Guaranteed that harvested static credentials remain entirely unusable for subsequent adversarial replay vectors.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DEEP LEARNING PROACTIVE PATROL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Architecture Optimization: Developed an inline classification pipeline utilizing a layered Sequential ANN via Keras/TensorFlow.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Baseline Sourcing: Model trained on high-dimensional features extracted from the Kaggle Phishing URL Dataset.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Incident Verdict: Parsed the harvested URL indicator from the campaign, returning a true positive score with 99.98% Malicious Confidence.</a:t>
            </a:r>
          </a:p>
          <a:p>
            <a:pPr>
              <a:spcBef>
                <a:spcPts val="1000"/>
              </a:spcBef>
              <a:defRPr sz="1200">
                <a:solidFill>
                  <a:srgbClr val="F9FAFB"/>
                </a:solidFill>
              </a:defRPr>
            </a:pPr>
            <a:r>
              <a:t>• Deployment Utility: Wrapped within a Python GUI control interface to translate deep network vector inferences into instant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INCIDENT RESPONSE &amp; DIGITAL FORENSICS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Arial"/>
              </a:defRPr>
            </a:pPr>
            <a:r>
              <a:t>Root Cause Analysis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EF4444"/>
                </a:solidFill>
              </a:defRPr>
            </a:pPr>
            <a:r>
              <a:t>ROOT CAUSE ANALYSIS (RCA)</a:t>
            </a:r>
          </a:p>
          <a:p>
            <a:pPr>
              <a:spcBef>
                <a:spcPts val="1200"/>
              </a:spcBef>
              <a:defRPr b="1" sz="1200">
                <a:solidFill>
                  <a:srgbClr val="F9FAFB"/>
                </a:solidFill>
              </a:defRPr>
            </a:pPr>
            <a:r>
              <a:t>• Immediate Trigger:</a:t>
            </a:r>
            <a:r>
              <a:rPr b="0">
                <a:solidFill>
                  <a:srgbClr val="9CA3AF"/>
                </a:solidFill>
              </a:rPr>
              <a:t> Corporate end-user interacted with an inbound deceptive tracking link mimicking secure portal single sign-on parameters.</a:t>
            </a:r>
          </a:p>
          <a:p>
            <a:pPr>
              <a:spcBef>
                <a:spcPts val="1200"/>
              </a:spcBef>
              <a:defRPr b="1" sz="1200">
                <a:solidFill>
                  <a:srgbClr val="F9FAFB"/>
                </a:solidFill>
              </a:defRPr>
            </a:pPr>
            <a:r>
              <a:t>• Human Layer Vulnerability:</a:t>
            </a:r>
            <a:r>
              <a:rPr b="0">
                <a:solidFill>
                  <a:srgbClr val="9CA3AF"/>
                </a:solidFill>
              </a:rPr>
              <a:t> High susceptibility to advanced domain spoofing and social engineering context indicators, causing credential entry.</a:t>
            </a:r>
          </a:p>
          <a:p>
            <a:pPr>
              <a:spcBef>
                <a:spcPts val="1200"/>
              </a:spcBef>
              <a:defRPr b="1" sz="1200">
                <a:solidFill>
                  <a:srgbClr val="F9FAFB"/>
                </a:solidFill>
              </a:defRPr>
            </a:pPr>
            <a:r>
              <a:t>• Technical Defense Gap:</a:t>
            </a:r>
            <a:r>
              <a:rPr b="0">
                <a:solidFill>
                  <a:srgbClr val="9CA3AF"/>
                </a:solidFill>
              </a:rPr>
              <a:t> Absence of programmatic inline link sandbox verification controls at the transport layer, shifting classification burden entirely to the user.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600">
                <a:solidFill>
                  <a:srgbClr val="3B82F6"/>
                </a:solidFill>
              </a:defRPr>
            </a:pPr>
            <a:r>
              <a:t>STRATEGIC RECOMMENDATIONS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1. Automated Perimeter Sandboxing: Deploy the trained Deep Learning classification neural network model inline inside the Mail Transfer Agent (MTA) to drop threats before delivery.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2. Adaptive Identity Verification: Implement continuous adaptive authentication challenges and phishing simulation tracks targeting multi-tab credential harvesting scenarios.</a:t>
            </a:r>
          </a:p>
          <a:p>
            <a:pPr>
              <a:spcBef>
                <a:spcPts val="1400"/>
              </a:spcBef>
              <a:defRPr sz="1200">
                <a:solidFill>
                  <a:srgbClr val="F9FAFB"/>
                </a:solidFill>
              </a:defRPr>
            </a:pPr>
            <a:r>
              <a:t>3. Command-Line Restrictions: Restrict local non-administrative execution parameters for command-line processors (cmd.exe/PowerShell) where technically feasible to shrink system attack surface.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