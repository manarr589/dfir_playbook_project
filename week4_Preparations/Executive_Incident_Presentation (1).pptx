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clarifying this was a controlled, isolated lab exercise, not a real breach — but built to behave exactly like one so the forensic and response findings transfer directly to production readiness.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funnel: 1 victim, clicked in under a minute, submitted credentials just over two minutes later — 100% conversion once clicked. Then flag the two technical red flags: plain HTTP, and the fact the attacker infrastructure is now confirmed dead.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full email-to-credential chain happened in three minutes. Containment was structural, by lab design. Eradication was verified with an independent tool (MXToolbox), not just assumed.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six steps in order. Land hard on step 6: this is the structural gap, not a misconfiguration. SPF/DKIM did their job correctly for gmail.com; they were never designed to validate a display name against a brand.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Two-sided framing: what we proved in the safe lab environment versus what the same chain would mean against real NBE customers. This is the bridge from 'interesting exercise' to 'business risk.'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three columns map to the Contain / Eradicate / Recover phases of the IR Playbook Template, applied here to a lab exercise instead of a live incident.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findings in order of importance: the technical blind spot, the human-factors success rate, the compounding transport-layer risk, and the good news — verification tooling worked well.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action items. The first two are the highest priority since they directly close the gap this exercise exposed.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crediting the Week 2 forensic work and inviting questions; hand the room the full written report for detail beyond this briefing.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image" Target="../media/image5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25880"/>
            <a:ext cx="108813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FINAL INCIDENT BRIEFING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2103120"/>
            <a:ext cx="10515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Simulated Spear-Phishing Attack Impersonating the National Bank of Egypt (NBE)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58368" y="2743200"/>
            <a:ext cx="2743200" cy="0"/>
          </a:xfrm>
          <a:prstGeom prst="line">
            <a:avLst/>
          </a:prstGeom>
          <a:noFill/>
          <a:ln w="25400">
            <a:solidFill>
              <a:srgbClr val="C9A2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017520"/>
            <a:ext cx="10058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Exercise ID: </a:t>
            </a: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LAB-PHI-2026-0429   </a:t>
            </a:r>
            <a:r>
              <a:rPr lang="en-US" sz="130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Classification: </a:t>
            </a: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Controlled Lab Exercise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3383280"/>
            <a:ext cx="10058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Forensic Collection: </a:t>
            </a: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---------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749040"/>
            <a:ext cx="10058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Prepared for: </a:t>
            </a: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Executive Leadership &amp; Program Stakeholders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4617720"/>
            <a:ext cx="10515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B3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 4 — Post-Incident Activities  |  SANS Incident Handling Model  |  NIST SP 800-61r3 (CSF 2.0)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8813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670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Gophish campaign impersonating NBE's online banking login was delivered to a lab victim. The victim clicked, submitted credentials in cleartext, and was silently redirected — the full chain completed in under 3 minutes.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F3F6FC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031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496312"/>
            <a:ext cx="2971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777240" y="3108960"/>
            <a:ext cx="2971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Victim Targeted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206240" y="187452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F3F6FC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210312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434840" y="2496312"/>
            <a:ext cx="2971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54 sec</a:t>
            </a:r>
            <a:endParaRPr lang="en-US" sz="3000" dirty="0"/>
          </a:p>
        </p:txBody>
      </p:sp>
      <p:sp>
        <p:nvSpPr>
          <p:cNvPr id="11" name="Text 7"/>
          <p:cNvSpPr/>
          <p:nvPr/>
        </p:nvSpPr>
        <p:spPr>
          <a:xfrm>
            <a:off x="4434840" y="3108960"/>
            <a:ext cx="2971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Time to Click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863840" y="187452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F3F6FC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210312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092440" y="2496312"/>
            <a:ext cx="2971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2m 13s</a:t>
            </a:r>
            <a:endParaRPr lang="en-US" sz="3000" dirty="0"/>
          </a:p>
        </p:txBody>
      </p:sp>
      <p:sp>
        <p:nvSpPr>
          <p:cNvPr id="15" name="Text 10"/>
          <p:cNvSpPr/>
          <p:nvPr/>
        </p:nvSpPr>
        <p:spPr>
          <a:xfrm>
            <a:off x="8092440" y="3108960"/>
            <a:ext cx="2971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Time to Credential Submission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48640" y="370332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F3F6FC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93192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77240" y="4325112"/>
            <a:ext cx="2971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100%</a:t>
            </a:r>
            <a:endParaRPr lang="en-US" sz="3000" dirty="0"/>
          </a:p>
        </p:txBody>
      </p:sp>
      <p:sp>
        <p:nvSpPr>
          <p:cNvPr id="19" name="Text 13"/>
          <p:cNvSpPr/>
          <p:nvPr/>
        </p:nvSpPr>
        <p:spPr>
          <a:xfrm>
            <a:off x="777240" y="4937760"/>
            <a:ext cx="2971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Click-to-Submit Conversion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4206240" y="370332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F3F6FC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4840" y="3931920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434840" y="4325112"/>
            <a:ext cx="2971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HTTP</a:t>
            </a:r>
            <a:endParaRPr lang="en-US" sz="3000" dirty="0"/>
          </a:p>
        </p:txBody>
      </p:sp>
      <p:sp>
        <p:nvSpPr>
          <p:cNvPr id="23" name="Text 16"/>
          <p:cNvSpPr/>
          <p:nvPr/>
        </p:nvSpPr>
        <p:spPr>
          <a:xfrm>
            <a:off x="4434840" y="4937760"/>
            <a:ext cx="2971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Encryption on Landing Page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7863840" y="370332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F3F6FC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2440" y="3931920"/>
            <a:ext cx="457200" cy="4572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092440" y="4325112"/>
            <a:ext cx="2971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Decommissioned</a:t>
            </a:r>
            <a:endParaRPr lang="en-US" sz="2000" dirty="0"/>
          </a:p>
        </p:txBody>
      </p:sp>
      <p:sp>
        <p:nvSpPr>
          <p:cNvPr id="27" name="Text 19"/>
          <p:cNvSpPr/>
          <p:nvPr/>
        </p:nvSpPr>
        <p:spPr>
          <a:xfrm>
            <a:off x="8092440" y="4937760"/>
            <a:ext cx="2971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Attacker Infra (Post-Exercise)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Exercise Timeline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70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SANS phases, 29 April – 1 May 2026 (lab time)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709928" y="2834640"/>
            <a:ext cx="8650224" cy="0"/>
          </a:xfrm>
          <a:prstGeom prst="line">
            <a:avLst/>
          </a:prstGeom>
          <a:noFill/>
          <a:ln w="38100">
            <a:solidFill>
              <a:srgbClr val="D7DE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35608" y="2514600"/>
            <a:ext cx="640080" cy="640080"/>
          </a:xfrm>
          <a:prstGeom prst="ellipse">
            <a:avLst/>
          </a:prstGeom>
          <a:solidFill>
            <a:srgbClr val="1E2761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1912" y="2660904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291840"/>
            <a:ext cx="2048256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Identify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3611880"/>
            <a:ext cx="204825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C9A2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23:40–23:43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31520" y="3913632"/>
            <a:ext cx="2048256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70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Email sent, clicked, and credentials submitted — captured live via Wireshark &amp; Sysmon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575304" y="2514600"/>
            <a:ext cx="640080" cy="640080"/>
          </a:xfrm>
          <a:prstGeom prst="ellipse">
            <a:avLst/>
          </a:prstGeom>
          <a:solidFill>
            <a:srgbClr val="1E2761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1608" y="2660904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871216" y="3291840"/>
            <a:ext cx="2048256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Contain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871216" y="3611880"/>
            <a:ext cx="204825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C9A2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Throughout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2871216" y="3913632"/>
            <a:ext cx="2048256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70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Traffic fully confined to the isolated 192.168.56.0/24 lab segment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715000" y="2514600"/>
            <a:ext cx="640080" cy="640080"/>
          </a:xfrm>
          <a:prstGeom prst="ellipse">
            <a:avLst/>
          </a:prstGeom>
          <a:solidFill>
            <a:srgbClr val="1E2761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1304" y="2660904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010912" y="3291840"/>
            <a:ext cx="2048256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Eradicate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010912" y="3611880"/>
            <a:ext cx="204825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C9A2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 May, 02:37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5010912" y="3913632"/>
            <a:ext cx="2048256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70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MXToolbox scan confirms attacker server unreachable / decommissioned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7854696" y="2514600"/>
            <a:ext cx="640080" cy="640080"/>
          </a:xfrm>
          <a:prstGeom prst="ellipse">
            <a:avLst/>
          </a:prstGeom>
          <a:solidFill>
            <a:srgbClr val="1E2761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2660904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50608" y="3291840"/>
            <a:ext cx="2048256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Recover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150608" y="3611880"/>
            <a:ext cx="204825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C9A2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 May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7150608" y="3913632"/>
            <a:ext cx="2048256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70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Victim VM and network confirmed restored; forensic artifacts preserved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9994392" y="2514600"/>
            <a:ext cx="640080" cy="640080"/>
          </a:xfrm>
          <a:prstGeom prst="ellipse">
            <a:avLst/>
          </a:prstGeom>
          <a:solidFill>
            <a:srgbClr val="1E2761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0696" y="2660904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290304" y="3291840"/>
            <a:ext cx="2048256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Lessons Learned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9290304" y="3611880"/>
            <a:ext cx="204825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C9A2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Post-exercise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9290304" y="3913632"/>
            <a:ext cx="2048256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70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Findings consolidated; playbook and email-control gaps identified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How the Attack Worked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698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Root cause: SPF/DKIM validated the sending domain (gmail.com), not the impersonated brand (NBE)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401568" cy="1417320"/>
          </a:xfrm>
          <a:prstGeom prst="roundRect">
            <a:avLst>
              <a:gd name="adj" fmla="val 5161"/>
            </a:avLst>
          </a:prstGeom>
          <a:solidFill>
            <a:srgbClr val="27306B"/>
          </a:solidFill>
        </p:spPr>
      </p:sp>
      <p:sp>
        <p:nvSpPr>
          <p:cNvPr id="5" name="Shape 3"/>
          <p:cNvSpPr/>
          <p:nvPr/>
        </p:nvSpPr>
        <p:spPr>
          <a:xfrm>
            <a:off x="731520" y="1737360"/>
            <a:ext cx="457200" cy="457200"/>
          </a:xfrm>
          <a:prstGeom prst="ellipse">
            <a:avLst/>
          </a:prstGeom>
          <a:solidFill>
            <a:srgbClr val="C9A24B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183794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719072"/>
            <a:ext cx="248716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 Spoofed Sender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49808" y="2240280"/>
            <a:ext cx="2999232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C7D1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Display name “Bank” sent from a real Gmail account, not NBE</a:t>
            </a:r>
            <a:endParaRPr lang="en-US" sz="1020" dirty="0"/>
          </a:p>
        </p:txBody>
      </p:sp>
      <p:sp>
        <p:nvSpPr>
          <p:cNvPr id="9" name="Shape 6"/>
          <p:cNvSpPr/>
          <p:nvPr/>
        </p:nvSpPr>
        <p:spPr>
          <a:xfrm>
            <a:off x="4151376" y="1554480"/>
            <a:ext cx="3401568" cy="1417320"/>
          </a:xfrm>
          <a:prstGeom prst="roundRect">
            <a:avLst>
              <a:gd name="adj" fmla="val 5161"/>
            </a:avLst>
          </a:prstGeom>
          <a:solidFill>
            <a:srgbClr val="27306B"/>
          </a:solidFill>
        </p:spPr>
      </p:sp>
      <p:sp>
        <p:nvSpPr>
          <p:cNvPr id="10" name="Shape 7"/>
          <p:cNvSpPr/>
          <p:nvPr/>
        </p:nvSpPr>
        <p:spPr>
          <a:xfrm>
            <a:off x="4334256" y="1737360"/>
            <a:ext cx="457200" cy="457200"/>
          </a:xfrm>
          <a:prstGeom prst="ellipse">
            <a:avLst/>
          </a:prstGeom>
          <a:solidFill>
            <a:srgbClr val="C9A24B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83794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928616" y="1719072"/>
            <a:ext cx="248716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 Urgent Lure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352544" y="2240280"/>
            <a:ext cx="2999232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C7D1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“Urgent Security Alert” email pressures immediate action</a:t>
            </a:r>
            <a:endParaRPr lang="en-US" sz="1020" dirty="0"/>
          </a:p>
        </p:txBody>
      </p:sp>
      <p:sp>
        <p:nvSpPr>
          <p:cNvPr id="14" name="Shape 10"/>
          <p:cNvSpPr/>
          <p:nvPr/>
        </p:nvSpPr>
        <p:spPr>
          <a:xfrm>
            <a:off x="7754112" y="1554480"/>
            <a:ext cx="3401568" cy="1417320"/>
          </a:xfrm>
          <a:prstGeom prst="roundRect">
            <a:avLst>
              <a:gd name="adj" fmla="val 5161"/>
            </a:avLst>
          </a:prstGeom>
          <a:solidFill>
            <a:srgbClr val="27306B"/>
          </a:solidFill>
        </p:spPr>
      </p:sp>
      <p:sp>
        <p:nvSpPr>
          <p:cNvPr id="15" name="Shape 11"/>
          <p:cNvSpPr/>
          <p:nvPr/>
        </p:nvSpPr>
        <p:spPr>
          <a:xfrm>
            <a:off x="7936992" y="1737360"/>
            <a:ext cx="457200" cy="457200"/>
          </a:xfrm>
          <a:prstGeom prst="ellipse">
            <a:avLst/>
          </a:prstGeom>
          <a:solidFill>
            <a:srgbClr val="C9A24B"/>
          </a:solidFill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7576" y="1837944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31352" y="1719072"/>
            <a:ext cx="248716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 Brand Clone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7955280" y="2240280"/>
            <a:ext cx="2999232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C7D1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Landing page exactly clones the NBE online banking login</a:t>
            </a:r>
            <a:endParaRPr lang="en-US" sz="1020" dirty="0"/>
          </a:p>
        </p:txBody>
      </p:sp>
      <p:sp>
        <p:nvSpPr>
          <p:cNvPr id="19" name="Shape 14"/>
          <p:cNvSpPr/>
          <p:nvPr/>
        </p:nvSpPr>
        <p:spPr>
          <a:xfrm>
            <a:off x="548640" y="3200400"/>
            <a:ext cx="3401568" cy="1417320"/>
          </a:xfrm>
          <a:prstGeom prst="roundRect">
            <a:avLst>
              <a:gd name="adj" fmla="val 5161"/>
            </a:avLst>
          </a:prstGeom>
          <a:solidFill>
            <a:srgbClr val="27306B"/>
          </a:solidFill>
        </p:spPr>
      </p:sp>
      <p:sp>
        <p:nvSpPr>
          <p:cNvPr id="20" name="Shape 15"/>
          <p:cNvSpPr/>
          <p:nvPr/>
        </p:nvSpPr>
        <p:spPr>
          <a:xfrm>
            <a:off x="731520" y="3383280"/>
            <a:ext cx="457200" cy="457200"/>
          </a:xfrm>
          <a:prstGeom prst="ellipse">
            <a:avLst/>
          </a:prstGeom>
          <a:solidFill>
            <a:srgbClr val="C9A24B"/>
          </a:solidFill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" y="3483864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25880" y="3364992"/>
            <a:ext cx="248716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  Cleartext Capture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49808" y="3886200"/>
            <a:ext cx="2999232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C7D1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Credentials submitted over plain HTTP on port 8080, no TLS</a:t>
            </a:r>
            <a:endParaRPr lang="en-US" sz="1020" dirty="0"/>
          </a:p>
        </p:txBody>
      </p:sp>
      <p:sp>
        <p:nvSpPr>
          <p:cNvPr id="24" name="Shape 18"/>
          <p:cNvSpPr/>
          <p:nvPr/>
        </p:nvSpPr>
        <p:spPr>
          <a:xfrm>
            <a:off x="4151376" y="3200400"/>
            <a:ext cx="3401568" cy="1417320"/>
          </a:xfrm>
          <a:prstGeom prst="roundRect">
            <a:avLst>
              <a:gd name="adj" fmla="val 5161"/>
            </a:avLst>
          </a:prstGeom>
          <a:solidFill>
            <a:srgbClr val="27306B"/>
          </a:solidFill>
        </p:spPr>
      </p:sp>
      <p:sp>
        <p:nvSpPr>
          <p:cNvPr id="25" name="Shape 19"/>
          <p:cNvSpPr/>
          <p:nvPr/>
        </p:nvSpPr>
        <p:spPr>
          <a:xfrm>
            <a:off x="4334256" y="3383280"/>
            <a:ext cx="457200" cy="457200"/>
          </a:xfrm>
          <a:prstGeom prst="ellipse">
            <a:avLst/>
          </a:prstGeom>
          <a:solidFill>
            <a:srgbClr val="C9A24B"/>
          </a:solidFill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4840" y="3483864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928616" y="3364992"/>
            <a:ext cx="248716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  Silent Redirect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352544" y="3886200"/>
            <a:ext cx="2999232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C7D1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Victim redirected to google.com to avoid raising suspicion</a:t>
            </a:r>
            <a:endParaRPr lang="en-US" sz="1020" dirty="0"/>
          </a:p>
        </p:txBody>
      </p:sp>
      <p:sp>
        <p:nvSpPr>
          <p:cNvPr id="29" name="Shape 22"/>
          <p:cNvSpPr/>
          <p:nvPr/>
        </p:nvSpPr>
        <p:spPr>
          <a:xfrm>
            <a:off x="7754112" y="3200400"/>
            <a:ext cx="3401568" cy="1417320"/>
          </a:xfrm>
          <a:prstGeom prst="roundRect">
            <a:avLst>
              <a:gd name="adj" fmla="val 5161"/>
            </a:avLst>
          </a:prstGeom>
          <a:solidFill>
            <a:srgbClr val="27306B"/>
          </a:solidFill>
        </p:spPr>
      </p:sp>
      <p:sp>
        <p:nvSpPr>
          <p:cNvPr id="30" name="Shape 23"/>
          <p:cNvSpPr/>
          <p:nvPr/>
        </p:nvSpPr>
        <p:spPr>
          <a:xfrm>
            <a:off x="7936992" y="3383280"/>
            <a:ext cx="457200" cy="457200"/>
          </a:xfrm>
          <a:prstGeom prst="ellipse">
            <a:avLst/>
          </a:prstGeom>
          <a:solidFill>
            <a:srgbClr val="B3312C"/>
          </a:solidFill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37576" y="3483864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531352" y="3364992"/>
            <a:ext cx="248716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  Auth Blind Spot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7955280" y="3886200"/>
            <a:ext cx="2999232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C7D1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SPF/DKIM passed for gmail.com — brand spoof went undetected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Impact Assessment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212080" cy="3657600"/>
          </a:xfrm>
          <a:prstGeom prst="roundRect">
            <a:avLst>
              <a:gd name="adj" fmla="val 2000"/>
            </a:avLst>
          </a:prstGeom>
          <a:solidFill>
            <a:srgbClr val="F3F6FC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371600"/>
            <a:ext cx="4663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the Exercise Proved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4663440" cy="2743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2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convincing brand clone + urgency lure achieves 100% conversion once clicked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2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Wireshark + Sysmon (Event ID 1 &amp; 3) fully reconstruct the attack chain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2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MXToolbox independently verifies both the spoof and the infrastructure takedown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2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Confined entirely to the isolated 192.168.56.0/24 lab segment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89320" y="1143000"/>
            <a:ext cx="5349240" cy="3657600"/>
          </a:xfrm>
          <a:prstGeom prst="roundRect">
            <a:avLst>
              <a:gd name="adj" fmla="val 2000"/>
            </a:avLst>
          </a:prstGeom>
          <a:solidFill>
            <a:srgbClr val="FBF1F0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63640" y="1371600"/>
            <a:ext cx="4846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B331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Would Happen in Production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263640" y="1828800"/>
            <a:ext cx="4846320" cy="2743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2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SPF/DKIM alone would not have blocked this message from reaching real inboxes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2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real customer submitting real banking credentials would risk account takeover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2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Cleartext HTTP capture would expose credentials to any network observer, not just the attacker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2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Reused/weak passwords (as captured here) would compound impact across other accounts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Post-Exercise Response Actions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3520440" cy="3657600"/>
          </a:xfrm>
          <a:prstGeom prst="roundRect">
            <a:avLst>
              <a:gd name="adj" fmla="val 2078"/>
            </a:avLst>
          </a:prstGeom>
          <a:solidFill>
            <a:srgbClr val="F7F9FC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371600"/>
            <a:ext cx="548640" cy="548640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5087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417320"/>
            <a:ext cx="24231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Contain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22960" y="2103120"/>
            <a:ext cx="2971800" cy="2560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E22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Exercise scoped to isolated 192.168.56.0/24 segment from the start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E22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route to production networks at any point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E22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traffic capture via Wireshark for the entire duration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251960" y="1143000"/>
            <a:ext cx="3520440" cy="3657600"/>
          </a:xfrm>
          <a:prstGeom prst="roundRect">
            <a:avLst>
              <a:gd name="adj" fmla="val 2078"/>
            </a:avLst>
          </a:prstGeom>
          <a:solidFill>
            <a:srgbClr val="F7F9FC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480560" y="1371600"/>
            <a:ext cx="548640" cy="548640"/>
          </a:xfrm>
          <a:prstGeom prst="ellipse">
            <a:avLst/>
          </a:prstGeom>
          <a:solidFill>
            <a:srgbClr val="44506B"/>
          </a:solidFill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50876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166360" y="1417320"/>
            <a:ext cx="24231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Eradicate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4526280" y="2103120"/>
            <a:ext cx="2971800" cy="2560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E22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Gophish server and landing page decommissioned after data collection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E22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MXToolbox re-scan independently confirms server unreachable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E22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Captured credentials retained only for training/reporting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7955280" y="1143000"/>
            <a:ext cx="3520440" cy="3657600"/>
          </a:xfrm>
          <a:prstGeom prst="roundRect">
            <a:avLst>
              <a:gd name="adj" fmla="val 2078"/>
            </a:avLst>
          </a:prstGeom>
          <a:solidFill>
            <a:srgbClr val="F7F9FC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183880" y="1371600"/>
            <a:ext cx="548640" cy="548640"/>
          </a:xfrm>
          <a:prstGeom prst="ellipse">
            <a:avLst/>
          </a:prstGeom>
          <a:solidFill>
            <a:srgbClr val="2E6B4F"/>
          </a:solidFill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50876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869680" y="1417320"/>
            <a:ext cx="24231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Recover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8229600" y="2103120"/>
            <a:ext cx="2971800" cy="2560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E22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Victim VM confirmed restored to lab baseline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E22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Sysmon and Wireshark artifacts archived for this report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E22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Findings handed to IRT for lessons-learned and remediation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Key Findings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257800" cy="1691640"/>
          </a:xfrm>
          <a:prstGeom prst="roundRect">
            <a:avLst>
              <a:gd name="adj" fmla="val 4324"/>
            </a:avLst>
          </a:prstGeom>
          <a:solidFill>
            <a:srgbClr val="F3F6FC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371600"/>
            <a:ext cx="502920" cy="502920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1495044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325880"/>
            <a:ext cx="41605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Display-name spoofing bypasses SPF/DKIM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1984248"/>
            <a:ext cx="47091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Both checks passed because they validate the gmail.com sending domain, not the “Bank” display name.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989320" y="1143000"/>
            <a:ext cx="5257800" cy="1691640"/>
          </a:xfrm>
          <a:prstGeom prst="roundRect">
            <a:avLst>
              <a:gd name="adj" fmla="val 4324"/>
            </a:avLst>
          </a:prstGeom>
          <a:solidFill>
            <a:srgbClr val="F3F6FC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217920" y="1371600"/>
            <a:ext cx="502920" cy="502920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1364" y="149504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03720" y="1325880"/>
            <a:ext cx="41605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Brand cloning was highly convincing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263640" y="1984248"/>
            <a:ext cx="47091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NBE-branded login page drove a 100% credential-submission rate once clicked.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3017520"/>
            <a:ext cx="5257800" cy="1691640"/>
          </a:xfrm>
          <a:prstGeom prst="roundRect">
            <a:avLst>
              <a:gd name="adj" fmla="val 4324"/>
            </a:avLst>
          </a:prstGeom>
          <a:solidFill>
            <a:srgbClr val="F3F6FC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77240" y="3246120"/>
            <a:ext cx="502920" cy="502920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" y="3369564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63040" y="3200400"/>
            <a:ext cx="41605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Cleartext HTTP compounds the risk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822960" y="3858768"/>
            <a:ext cx="47091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Credentials were exposed in transit, not just at the destination server.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989320" y="3017520"/>
            <a:ext cx="5257800" cy="1691640"/>
          </a:xfrm>
          <a:prstGeom prst="roundRect">
            <a:avLst>
              <a:gd name="adj" fmla="val 4324"/>
            </a:avLst>
          </a:prstGeom>
          <a:solidFill>
            <a:srgbClr val="F3F6FC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217920" y="3246120"/>
            <a:ext cx="502920" cy="502920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1364" y="3369564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903720" y="3200400"/>
            <a:ext cx="41605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Rapid infrastructure verification works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6263640" y="3858768"/>
            <a:ext cx="47091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MXToolbox DNS/MX comparison and reachability checks cleanly confirmed both the spoof and the teardown.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457200" cy="457200"/>
          </a:xfrm>
          <a:prstGeom prst="ellipse">
            <a:avLst/>
          </a:prstGeom>
          <a:solidFill>
            <a:srgbClr val="C9A24B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" y="1293876"/>
            <a:ext cx="246888" cy="2468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5880" y="1143000"/>
            <a:ext cx="98755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Deploy DMARC enforcement plus brand/display-name anomaly detection at the gateway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40080" y="1828800"/>
            <a:ext cx="457200" cy="457200"/>
          </a:xfrm>
          <a:prstGeom prst="ellipse">
            <a:avLst/>
          </a:prstGeom>
          <a:solidFill>
            <a:srgbClr val="C9A24B"/>
          </a:solidFill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1933956"/>
            <a:ext cx="246888" cy="2468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25880" y="1783080"/>
            <a:ext cx="98755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Update the IR Playbook's Identification checklist to compare display name vs. sending domain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640080" y="2468880"/>
            <a:ext cx="457200" cy="457200"/>
          </a:xfrm>
          <a:prstGeom prst="ellipse">
            <a:avLst/>
          </a:prstGeom>
          <a:solidFill>
            <a:srgbClr val="C9A24B"/>
          </a:solidFill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" y="2574036"/>
            <a:ext cx="246888" cy="24688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25880" y="2423160"/>
            <a:ext cx="98755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Enforce HTTPS-only policies and flag plain-HTTP login pages automatically</a:t>
            </a:r>
            <a:endParaRPr lang="en-US" sz="1450" dirty="0"/>
          </a:p>
        </p:txBody>
      </p:sp>
      <p:sp>
        <p:nvSpPr>
          <p:cNvPr id="12" name="Shape 7"/>
          <p:cNvSpPr/>
          <p:nvPr/>
        </p:nvSpPr>
        <p:spPr>
          <a:xfrm>
            <a:off x="640080" y="3108960"/>
            <a:ext cx="457200" cy="457200"/>
          </a:xfrm>
          <a:prstGeom prst="ellipse">
            <a:avLst/>
          </a:prstGeom>
          <a:solidFill>
            <a:srgbClr val="C9A24B"/>
          </a:solidFill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" y="3214116"/>
            <a:ext cx="246888" cy="24688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325880" y="3063240"/>
            <a:ext cx="98755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Deliver targeted awareness training using this exact simulation as a case study</a:t>
            </a:r>
            <a:endParaRPr lang="en-US" sz="1450" dirty="0"/>
          </a:p>
        </p:txBody>
      </p:sp>
      <p:sp>
        <p:nvSpPr>
          <p:cNvPr id="15" name="Shape 9"/>
          <p:cNvSpPr/>
          <p:nvPr/>
        </p:nvSpPr>
        <p:spPr>
          <a:xfrm>
            <a:off x="640080" y="3749040"/>
            <a:ext cx="457200" cy="457200"/>
          </a:xfrm>
          <a:prstGeom prst="ellipse">
            <a:avLst/>
          </a:prstGeom>
          <a:solidFill>
            <a:srgbClr val="C9A24B"/>
          </a:solidFill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" y="3854196"/>
            <a:ext cx="246888" cy="24688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325880" y="3703320"/>
            <a:ext cx="98755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Adopt a password policy that rejects weak, easily guessed passwords</a:t>
            </a:r>
            <a:endParaRPr lang="en-US" sz="1450" dirty="0"/>
          </a:p>
        </p:txBody>
      </p:sp>
      <p:sp>
        <p:nvSpPr>
          <p:cNvPr id="18" name="Shape 11"/>
          <p:cNvSpPr/>
          <p:nvPr/>
        </p:nvSpPr>
        <p:spPr>
          <a:xfrm>
            <a:off x="640080" y="4389120"/>
            <a:ext cx="457200" cy="457200"/>
          </a:xfrm>
          <a:prstGeom prst="ellipse">
            <a:avLst/>
          </a:prstGeom>
          <a:solidFill>
            <a:srgbClr val="C9A24B"/>
          </a:solidFill>
        </p:spPr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236" y="4494276"/>
            <a:ext cx="246888" cy="24688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325880" y="4343400"/>
            <a:ext cx="98755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Formalize the MXToolbox verification/takedown steps into the standard containment runbook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4920" y="822960"/>
            <a:ext cx="1097280" cy="1097280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0" y="10972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148840"/>
            <a:ext cx="11064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Exercise Closed — Findings Actioned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2788920"/>
            <a:ext cx="11064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6670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documentation available in Final Incident Report LAB-PHI-2026-0429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48640" y="4297680"/>
            <a:ext cx="11064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670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Questions  |  Incident Response Team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4255</Words>
  <Application>WPS Presentation</Application>
  <PresentationFormat>On-screen Show (16:9)</PresentationFormat>
  <Paragraphs>176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1" baseType="lpstr">
      <vt:lpstr>Arial</vt:lpstr>
      <vt:lpstr>SimSun</vt:lpstr>
      <vt:lpstr>Wingdings</vt:lpstr>
      <vt:lpstr>Cambria</vt:lpstr>
      <vt:lpstr>Cambria</vt:lpstr>
      <vt:lpstr>Cambria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Incident Briefing — LAB-PHI-2026-0429</dc:title>
  <dc:creator>Incident Response Team</dc:creator>
  <dc:subject>PptxGenJS Presentation</dc:subject>
  <cp:lastModifiedBy>abano</cp:lastModifiedBy>
  <cp:revision>2</cp:revision>
  <dcterms:created xsi:type="dcterms:W3CDTF">2026-07-07T09:55:00Z</dcterms:created>
  <dcterms:modified xsi:type="dcterms:W3CDTF">2026-07-07T10:43:29Z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B6D34C624EBA412380E9E7045923038B_12</vt:lpwstr>
  </property>
  <property fmtid="{D5CDD505-2E9C-101B-9397-08002B2CF9AE}" pid="3" name="KSOProductBuildVer">
    <vt:lpwstr>1033-12.1.0.26880</vt:lpwstr>
  </property>
</Properties>
</file>